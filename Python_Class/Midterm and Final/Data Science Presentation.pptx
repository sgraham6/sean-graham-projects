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1" r:id="rId13"/>
    <p:sldId id="265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83A7DE-7DB6-5C40-A1B9-5FB82C1F13A0}" v="54" dt="2020-04-14T20:52:22.6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620"/>
  </p:normalViewPr>
  <p:slideViewPr>
    <p:cSldViewPr snapToGrid="0" snapToObjects="1">
      <p:cViewPr varScale="1">
        <p:scale>
          <a:sx n="91" d="100"/>
          <a:sy n="91" d="100"/>
        </p:scale>
        <p:origin x="8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A89CC-6D31-7849-A720-C2D953C901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Causation vs. Correlation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FE1DA4-735C-0D4A-BAF2-414A7B99D7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Sean Graham</a:t>
            </a:r>
          </a:p>
        </p:txBody>
      </p:sp>
    </p:spTree>
    <p:extLst>
      <p:ext uri="{BB962C8B-B14F-4D97-AF65-F5344CB8AC3E}">
        <p14:creationId xmlns:p14="http://schemas.microsoft.com/office/powerpoint/2010/main" val="1325148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92289-6C25-5142-8949-B57F6859E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A0DDA-D86C-D143-963A-323C2A38D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linear regression, independent variables can have a strong or weak impact on the dependent variables, and the two can share a strong or weak correlation.</a:t>
            </a:r>
          </a:p>
          <a:p>
            <a:r>
              <a:rPr lang="en-US" dirty="0"/>
              <a:t>Are these two ideas related?</a:t>
            </a:r>
          </a:p>
        </p:txBody>
      </p:sp>
    </p:spTree>
    <p:extLst>
      <p:ext uri="{BB962C8B-B14F-4D97-AF65-F5344CB8AC3E}">
        <p14:creationId xmlns:p14="http://schemas.microsoft.com/office/powerpoint/2010/main" val="2802446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755CD-EA51-5C48-ABE0-20EB9EE3B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Gathering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67FAB-EFC1-E941-94AF-DC2C5641D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010" y="2128928"/>
            <a:ext cx="4954588" cy="3541714"/>
          </a:xfrm>
        </p:spPr>
        <p:txBody>
          <a:bodyPr/>
          <a:lstStyle/>
          <a:p>
            <a:r>
              <a:rPr lang="en-US" dirty="0"/>
              <a:t>I searched Kaggle for data sets.</a:t>
            </a:r>
          </a:p>
          <a:p>
            <a:pPr lvl="1"/>
            <a:r>
              <a:rPr lang="en-US" dirty="0"/>
              <a:t>The data had to be primarily numerical, mostly complete, and of reasonable size.</a:t>
            </a:r>
          </a:p>
          <a:p>
            <a:r>
              <a:rPr lang="en-US" dirty="0"/>
              <a:t>Found a set: “auto-mpg.”</a:t>
            </a:r>
          </a:p>
          <a:p>
            <a:pPr lvl="1"/>
            <a:r>
              <a:rPr lang="en-US" dirty="0"/>
              <a:t>Shows mpg, number of cylinders, etc. for various car models.</a:t>
            </a:r>
          </a:p>
          <a:p>
            <a:pPr lvl="1"/>
            <a:endParaRPr lang="en-US" dirty="0"/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CD3FA585-9257-4348-AA66-D8F6F1542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899" y="2097088"/>
            <a:ext cx="5838091" cy="340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154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14A51-03B2-D449-BD15-D765B6CB4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of Analysis: Preliminary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42F95-0BEF-1542-90CD-D940B1A1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76953"/>
            <a:ext cx="9905999" cy="3541714"/>
          </a:xfrm>
        </p:spPr>
        <p:txBody>
          <a:bodyPr/>
          <a:lstStyle/>
          <a:p>
            <a:r>
              <a:rPr lang="en-US" dirty="0"/>
              <a:t>I made “mpg” the dependent variable.</a:t>
            </a:r>
          </a:p>
          <a:p>
            <a:r>
              <a:rPr lang="en-US" dirty="0"/>
              <a:t>I made “number of cylinders,” “displacement,” “weight”, “acceleration”, and “model year” the independent variables.</a:t>
            </a:r>
          </a:p>
          <a:p>
            <a:r>
              <a:rPr lang="en-US" dirty="0"/>
              <a:t>I removed excess columns and imported the data into Spyder.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7C6F5AB3-A28A-C046-A9A5-1165DBCA9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856" y="4218065"/>
            <a:ext cx="9159110" cy="202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13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ACC7-75D7-5742-B1FD-150FAAD9E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of Analysis: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A6DBD-4BC9-3B49-8BBC-9DF56F878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created a linear regression model to find what affected mpg the most.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3A78C931-47B6-0B44-926C-D9A7F706A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711" y="3521682"/>
            <a:ext cx="9169400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968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9F0F5-87F2-5147-8757-2C1FBF9D2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of Analysis: adjusted R^2 and RMSE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D7119-2CDE-9743-A689-0B258316C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found the adjusted r squared and root mean squared error to test the accuracy of the regression model.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C506A073-6993-FF49-8BC7-2F3B6A5EB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311" y="3559782"/>
            <a:ext cx="5918200" cy="267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139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A4DD5-33A6-334A-BB44-C13909075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of analysis: Scatter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1DD58-D474-9E46-9DAD-D323120DF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created five scatter plots.</a:t>
            </a:r>
          </a:p>
          <a:p>
            <a:pPr lvl="1"/>
            <a:r>
              <a:rPr lang="en-US" dirty="0"/>
              <a:t>The x-axes were the five independent variables.</a:t>
            </a:r>
          </a:p>
          <a:p>
            <a:pPr lvl="1"/>
            <a:r>
              <a:rPr lang="en-US" dirty="0"/>
              <a:t>The y-axes for each were ”mpg.”</a:t>
            </a:r>
          </a:p>
          <a:p>
            <a:r>
              <a:rPr lang="en-US" dirty="0"/>
              <a:t>This gave an idea of correlation over all values and showed any outliers.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9AF37CEF-105B-284A-8D99-25130B653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111" y="4787449"/>
            <a:ext cx="9118600" cy="146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311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9DA44-39AA-9C4E-A26B-693756A6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of Analysis: Correlation coefficient 				      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C2C55-D3C4-A149-BE20-9FABAE200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created a correlation coefficient matrix.</a:t>
            </a:r>
          </a:p>
          <a:p>
            <a:pPr lvl="1"/>
            <a:r>
              <a:rPr lang="en-US" dirty="0"/>
              <a:t>It gave a more precise yet less informative idea of correlation.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939DBFE8-11F9-0447-8971-BFDEB09A88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30"/>
          <a:stretch/>
        </p:blipFill>
        <p:spPr>
          <a:xfrm>
            <a:off x="4211372" y="4934964"/>
            <a:ext cx="3766078" cy="130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760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DD10A-8EAC-B340-8AA2-1B634A610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Results: Linear Regression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C34FB-0611-A94A-B217-170F10AF4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/>
              <a:t>In the linear regression, model year affects mpg most, number of cylinders is second, and other variables are negligible.</a:t>
            </a:r>
            <a:endParaRPr lang="en-US" dirty="0"/>
          </a:p>
        </p:txBody>
      </p:sp>
      <p:pic>
        <p:nvPicPr>
          <p:cNvPr id="5" name="Picture 4" descr="A screenshot of text&#10;&#10;Description automatically generated">
            <a:extLst>
              <a:ext uri="{FF2B5EF4-FFF2-40B4-BE49-F238E27FC236}">
                <a16:creationId xmlns:a16="http://schemas.microsoft.com/office/drawing/2014/main" id="{561E540B-5EA7-BE4D-A89C-C02D9F672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298" y="3429000"/>
            <a:ext cx="4909403" cy="282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693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12888-EB37-BD4D-9BC9-349184955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adjusted R^2 and RMSE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4D505-204F-734F-847E-A05F0B7F5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Adjusted R squared was about 0.8, and the root mean squared error was about 3.2.</a:t>
            </a:r>
          </a:p>
          <a:p>
            <a:endParaRPr lang="en-US" dirty="0"/>
          </a:p>
        </p:txBody>
      </p:sp>
      <p:pic>
        <p:nvPicPr>
          <p:cNvPr id="5" name="Picture 4" descr="A close up of a person&#10;&#10;Description automatically generated">
            <a:extLst>
              <a:ext uri="{FF2B5EF4-FFF2-40B4-BE49-F238E27FC236}">
                <a16:creationId xmlns:a16="http://schemas.microsoft.com/office/drawing/2014/main" id="{6D957417-7812-D548-86C7-ED9CC2152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411" y="3585182"/>
            <a:ext cx="6350000" cy="265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127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F6CBE-B382-3F40-837B-EC27EE849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Scatter Plots and Correlation 		       Coefficient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2BF5F-054E-DF4F-A98E-C13B8A4D4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scatter plots and correlation coefficient matrix showed that “cylinders,” “displacement,” and “weight,” had strong, negative correlations with mpg, </a:t>
            </a:r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247D0616-D698-1642-9E77-7A16B07DB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00" y="3545143"/>
            <a:ext cx="3841928" cy="2694339"/>
          </a:xfrm>
          <a:prstGeom prst="rect">
            <a:avLst/>
          </a:prstGeom>
        </p:spPr>
      </p:pic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52A0D2B8-C66A-8547-9DA9-8E3813357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035" y="3545142"/>
            <a:ext cx="3882717" cy="2694339"/>
          </a:xfrm>
          <a:prstGeom prst="rect">
            <a:avLst/>
          </a:prstGeom>
        </p:spPr>
      </p:pic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D2B60B34-5FEC-6349-994B-DE791C033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7859" y="3545142"/>
            <a:ext cx="3957964" cy="269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31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E9B03-E073-A64B-B4FC-83D3C62AF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Scatter Plots and Correlation 		       Coefficient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340AD-2338-D642-8C01-CBCE08841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“acceleration,” and “model year” had weak, positive correlations with mpg.</a:t>
            </a:r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2B74CB4B-E784-F547-8D38-3A8728978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06" y="3545143"/>
            <a:ext cx="3878215" cy="2694339"/>
          </a:xfrm>
          <a:prstGeom prst="rect">
            <a:avLst/>
          </a:prstGeom>
        </p:spPr>
      </p:pic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AA94B775-7E0B-EB4E-AE62-1F6879A23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509" y="3545142"/>
            <a:ext cx="3857803" cy="2694339"/>
          </a:xfrm>
          <a:prstGeom prst="rect">
            <a:avLst/>
          </a:prstGeom>
        </p:spPr>
      </p:pic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A61ED077-C71E-6941-ABB8-846C3CE357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05" y="4224095"/>
            <a:ext cx="3862612" cy="133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341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F2690-6269-764A-A0A5-E0DC82D88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0A4E1-82D7-A54C-A5A0-D4205F3B6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affects mpg isn’t related to what correlates with it.</a:t>
            </a:r>
          </a:p>
          <a:p>
            <a:r>
              <a:rPr lang="en-US" dirty="0"/>
              <a:t>The slopes of the trendlines on the scatterplots seem to determine what impacts the linear regression model.</a:t>
            </a:r>
          </a:p>
          <a:p>
            <a:pPr lvl="1"/>
            <a:r>
              <a:rPr lang="en-US" dirty="0"/>
              <a:t>For slope, consider the axes scales.</a:t>
            </a:r>
          </a:p>
          <a:p>
            <a:r>
              <a:rPr lang="en-US" dirty="0"/>
              <a:t>In short, correlation doesn’t affect the linear regression model; it’s the trendlines.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7930FE-F356-284D-82AE-C150B43DC180}"/>
              </a:ext>
            </a:extLst>
          </p:cNvPr>
          <p:cNvSpPr txBox="1"/>
          <p:nvPr/>
        </p:nvSpPr>
        <p:spPr>
          <a:xfrm>
            <a:off x="2546252" y="24899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84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A50E9-1DF9-454B-88DD-FB62D64E02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40482647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188</TotalTime>
  <Words>437</Words>
  <Application>Microsoft Macintosh PowerPoint</Application>
  <PresentationFormat>Widescreen</PresentationFormat>
  <Paragraphs>40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Tw Cen MT</vt:lpstr>
      <vt:lpstr>Circuit</vt:lpstr>
      <vt:lpstr>Causation vs. Correlation</vt:lpstr>
      <vt:lpstr>Question</vt:lpstr>
      <vt:lpstr>Gathering Data</vt:lpstr>
      <vt:lpstr>Method of Analysis: Preliminary</vt:lpstr>
      <vt:lpstr>Method of Analysis: Linear Regression</vt:lpstr>
      <vt:lpstr>Method of Analysis: adjusted R^2 and RMSE</vt:lpstr>
      <vt:lpstr>Method of analysis: Scatter Plots</vt:lpstr>
      <vt:lpstr>Method of Analysis: Correlation coefficient            Matrix</vt:lpstr>
      <vt:lpstr>Results: Linear Regression</vt:lpstr>
      <vt:lpstr>Results: adjusted R^2 and RMSE</vt:lpstr>
      <vt:lpstr>Results: Scatter Plots and Correlation          Coefficient Matrix</vt:lpstr>
      <vt:lpstr>Results: Scatter Plots and Correlation          Coefficient Matrix</vt:lpstr>
      <vt:lpstr>Conclusions</vt:lpstr>
      <vt:lpstr>Thanks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Causation vs. Correlation</dc:title>
  <dc:creator>Graham, Sean</dc:creator>
  <cp:lastModifiedBy>Graham, Sean</cp:lastModifiedBy>
  <cp:revision>6</cp:revision>
  <dcterms:created xsi:type="dcterms:W3CDTF">2020-04-13T16:22:24Z</dcterms:created>
  <dcterms:modified xsi:type="dcterms:W3CDTF">2020-04-14T21:26:48Z</dcterms:modified>
</cp:coreProperties>
</file>